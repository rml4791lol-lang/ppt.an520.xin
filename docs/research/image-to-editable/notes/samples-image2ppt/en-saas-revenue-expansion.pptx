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5294" cy="6858000"/>
  <p:notesSz cx="6858000" cy="1218529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jp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"/>
            <a:ext cx="12185294" cy="6857872"/>
          </a:xfrm>
          <a:prstGeom prst="rect">
            <a:avLst/>
          </a:prstGeom>
        </p:spPr>
      </p:pic>
      <p:pic>
        <p:nvPicPr>
          <p:cNvPr id="3" name="Image 1" descr="im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94" y="167685"/>
            <a:ext cx="284226" cy="85267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71681" y="1173409"/>
            <a:ext cx="2973445" cy="1085890"/>
          </a:xfrm>
          <a:prstGeom prst="roundRect">
            <a:avLst>
              <a:gd name="adj" fmla="val 9396"/>
            </a:avLst>
          </a:prstGeom>
          <a:solidFill>
            <a:srgbClr val="FEFEFE"/>
          </a:solidFill>
          <a:ln w="15875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1406556" y="1392044"/>
            <a:ext cx="0" cy="626756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476307" y="1173409"/>
            <a:ext cx="2725658" cy="1085890"/>
          </a:xfrm>
          <a:prstGeom prst="roundRect">
            <a:avLst>
              <a:gd name="adj" fmla="val 7383"/>
            </a:avLst>
          </a:prstGeom>
          <a:solidFill>
            <a:srgbClr val="FEFEFE"/>
          </a:solidFill>
          <a:ln w="15875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340434" y="1173409"/>
            <a:ext cx="2711082" cy="1085890"/>
          </a:xfrm>
          <a:prstGeom prst="roundRect">
            <a:avLst>
              <a:gd name="adj" fmla="val 5052"/>
            </a:avLst>
          </a:prstGeom>
          <a:solidFill>
            <a:srgbClr val="FEFEFE"/>
          </a:solidFill>
          <a:ln w="15875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441948" y="1392044"/>
            <a:ext cx="0" cy="626756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89986" y="1173409"/>
            <a:ext cx="2630916" cy="1078603"/>
          </a:xfrm>
          <a:prstGeom prst="roundRect">
            <a:avLst>
              <a:gd name="adj" fmla="val 7432"/>
            </a:avLst>
          </a:prstGeom>
          <a:solidFill>
            <a:srgbClr val="FEFEFE"/>
          </a:solidFill>
          <a:ln w="15875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9817" y="2412344"/>
            <a:ext cx="5859436" cy="2922430"/>
          </a:xfrm>
          <a:prstGeom prst="roundRect">
            <a:avLst>
              <a:gd name="adj" fmla="val 4239"/>
            </a:avLst>
          </a:prstGeom>
          <a:solidFill>
            <a:srgbClr val="FEFEFE"/>
          </a:solidFill>
          <a:ln w="15875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317007" y="1392044"/>
            <a:ext cx="0" cy="626756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33146" y="2412344"/>
            <a:ext cx="5480467" cy="2915142"/>
          </a:xfrm>
          <a:prstGeom prst="roundRect">
            <a:avLst>
              <a:gd name="adj" fmla="val 3500"/>
            </a:avLst>
          </a:prstGeom>
          <a:solidFill>
            <a:srgbClr val="FEFEFE"/>
          </a:solidFill>
          <a:ln w="15875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494" y="2878767"/>
            <a:ext cx="2893279" cy="77251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206642" y="1392044"/>
            <a:ext cx="0" cy="626756"/>
          </a:xfrm>
          <a:prstGeom prst="line">
            <a:avLst/>
          </a:prstGeom>
          <a:noFill/>
          <a:ln w="9525">
            <a:solidFill>
              <a:srgbClr val="D5D5D5"/>
            </a:solidFill>
            <a:prstDash val="solid"/>
          </a:ln>
        </p:spPr>
      </p:sp>
      <p:pic>
        <p:nvPicPr>
          <p:cNvPr id="15" name="Image 3" descr="im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736" y="3665855"/>
            <a:ext cx="2215508" cy="728786"/>
          </a:xfrm>
          <a:prstGeom prst="rect">
            <a:avLst/>
          </a:prstGeom>
        </p:spPr>
      </p:pic>
      <p:pic>
        <p:nvPicPr>
          <p:cNvPr id="16" name="Image 4" descr="im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113" y="4409217"/>
            <a:ext cx="1574177" cy="670483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3673079" y="5826704"/>
            <a:ext cx="1082247" cy="0"/>
          </a:xfrm>
          <a:prstGeom prst="line">
            <a:avLst/>
          </a:prstGeom>
          <a:noFill/>
          <a:ln w="21864">
            <a:solidFill>
              <a:srgbClr val="14767F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5713667" y="5826807"/>
            <a:ext cx="178550" cy="0"/>
          </a:xfrm>
          <a:prstGeom prst="line">
            <a:avLst/>
          </a:prstGeom>
          <a:noFill/>
          <a:ln w="21864">
            <a:solidFill>
              <a:srgbClr val="0E284D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7448188" y="5826704"/>
            <a:ext cx="1038519" cy="0"/>
          </a:xfrm>
          <a:prstGeom prst="line">
            <a:avLst/>
          </a:prstGeom>
          <a:noFill/>
          <a:ln w="21864">
            <a:solidFill>
              <a:srgbClr val="072247"/>
            </a:solidFill>
            <a:prstDash val="solid"/>
          </a:ln>
        </p:spPr>
      </p:sp>
      <p:pic>
        <p:nvPicPr>
          <p:cNvPr id="20" name="Image 5" descr="connect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8289" y="3141130"/>
            <a:ext cx="590316" cy="138469"/>
          </a:xfrm>
          <a:prstGeom prst="rect">
            <a:avLst/>
          </a:prstGeom>
        </p:spPr>
      </p:pic>
      <p:pic>
        <p:nvPicPr>
          <p:cNvPr id="21" name="Image 6" descr="connect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4911" y="3913642"/>
            <a:ext cx="779801" cy="138469"/>
          </a:xfrm>
          <a:prstGeom prst="rect">
            <a:avLst/>
          </a:prstGeom>
        </p:spPr>
      </p:pic>
      <p:pic>
        <p:nvPicPr>
          <p:cNvPr id="22" name="Image 7" descr="connecto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4245" y="4642428"/>
            <a:ext cx="867255" cy="131181"/>
          </a:xfrm>
          <a:prstGeom prst="rect">
            <a:avLst/>
          </a:prstGeom>
        </p:spPr>
      </p:pic>
      <p:pic>
        <p:nvPicPr>
          <p:cNvPr id="23" name="Image 8" descr="connecto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241" y="5779333"/>
            <a:ext cx="532013" cy="109318"/>
          </a:xfrm>
          <a:prstGeom prst="rect">
            <a:avLst/>
          </a:prstGeom>
        </p:spPr>
      </p:pic>
      <p:pic>
        <p:nvPicPr>
          <p:cNvPr id="24" name="Image 9" descr="connecto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96176" y="5779333"/>
            <a:ext cx="561165" cy="109318"/>
          </a:xfrm>
          <a:prstGeom prst="rect">
            <a:avLst/>
          </a:prstGeom>
        </p:spPr>
      </p:pic>
      <p:pic>
        <p:nvPicPr>
          <p:cNvPr id="25" name="Image 10" descr="char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847" y="2958933"/>
            <a:ext cx="5597073" cy="2237372"/>
          </a:xfrm>
          <a:prstGeom prst="rect">
            <a:avLst/>
          </a:prstGeom>
        </p:spPr>
      </p:pic>
      <p:pic>
        <p:nvPicPr>
          <p:cNvPr id="26" name="Image 11" descr="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846" y="5567986"/>
            <a:ext cx="830816" cy="947421"/>
          </a:xfrm>
          <a:prstGeom prst="rect">
            <a:avLst/>
          </a:prstGeom>
        </p:spPr>
      </p:pic>
      <p:pic>
        <p:nvPicPr>
          <p:cNvPr id="27" name="Image 12" descr="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63230" y="5567986"/>
            <a:ext cx="823528" cy="940133"/>
          </a:xfrm>
          <a:prstGeom prst="rect">
            <a:avLst/>
          </a:prstGeom>
        </p:spPr>
      </p:pic>
      <p:pic>
        <p:nvPicPr>
          <p:cNvPr id="28" name="Image 13" descr="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31848" y="5567986"/>
            <a:ext cx="816240" cy="940133"/>
          </a:xfrm>
          <a:prstGeom prst="rect">
            <a:avLst/>
          </a:prstGeom>
        </p:spPr>
      </p:pic>
      <p:pic>
        <p:nvPicPr>
          <p:cNvPr id="29" name="Image 14" descr="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43928" y="1348317"/>
            <a:ext cx="685058" cy="692346"/>
          </a:xfrm>
          <a:prstGeom prst="rect">
            <a:avLst/>
          </a:prstGeom>
        </p:spPr>
      </p:pic>
      <p:pic>
        <p:nvPicPr>
          <p:cNvPr id="30" name="Image 15" descr="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8453" y="1348317"/>
            <a:ext cx="677771" cy="692346"/>
          </a:xfrm>
          <a:prstGeom prst="rect">
            <a:avLst/>
          </a:prstGeom>
        </p:spPr>
      </p:pic>
      <p:pic>
        <p:nvPicPr>
          <p:cNvPr id="31" name="Image 16" descr="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72182" y="1348317"/>
            <a:ext cx="677771" cy="692346"/>
          </a:xfrm>
          <a:prstGeom prst="rect">
            <a:avLst/>
          </a:prstGeom>
        </p:spPr>
      </p:pic>
      <p:pic>
        <p:nvPicPr>
          <p:cNvPr id="32" name="Image 17" descr="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22631" y="1348317"/>
            <a:ext cx="677771" cy="692346"/>
          </a:xfrm>
          <a:prstGeom prst="rect">
            <a:avLst/>
          </a:prstGeom>
        </p:spPr>
      </p:pic>
      <p:pic>
        <p:nvPicPr>
          <p:cNvPr id="33" name="Image 18" descr="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88688" y="3024524"/>
            <a:ext cx="480998" cy="517438"/>
          </a:xfrm>
          <a:prstGeom prst="rect">
            <a:avLst/>
          </a:prstGeom>
        </p:spPr>
      </p:pic>
      <p:pic>
        <p:nvPicPr>
          <p:cNvPr id="34" name="Image 19" descr="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95975" y="3840764"/>
            <a:ext cx="546589" cy="408120"/>
          </a:xfrm>
          <a:prstGeom prst="rect">
            <a:avLst/>
          </a:prstGeom>
        </p:spPr>
      </p:pic>
      <p:pic>
        <p:nvPicPr>
          <p:cNvPr id="35" name="Image 20" descr="icon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81400" y="4533110"/>
            <a:ext cx="553877" cy="422696"/>
          </a:xfrm>
          <a:prstGeom prst="rect">
            <a:avLst/>
          </a:prstGeom>
        </p:spPr>
      </p:pic>
      <p:sp>
        <p:nvSpPr>
          <p:cNvPr id="36" name="Text 13"/>
          <p:cNvSpPr txBox="1"/>
          <p:nvPr/>
        </p:nvSpPr>
        <p:spPr>
          <a:xfrm>
            <a:off x="597604" y="240426"/>
            <a:ext cx="7820142" cy="546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50" b="1" dirty="0">
                <a:solidFill>
                  <a:srgbClr val="0C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Revenue Expansion Dashboard</a:t>
            </a:r>
            <a:endParaRPr lang="en-US" sz="3350" dirty="0"/>
          </a:p>
        </p:txBody>
      </p:sp>
      <p:sp>
        <p:nvSpPr>
          <p:cNvPr id="37" name="Text 14"/>
          <p:cNvSpPr txBox="1"/>
          <p:nvPr/>
        </p:nvSpPr>
        <p:spPr>
          <a:xfrm>
            <a:off x="626756" y="743289"/>
            <a:ext cx="7739976" cy="306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30" i="1" dirty="0">
                <a:solidFill>
                  <a:srgbClr val="5A62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Prioritizing expansion motions across segments, regions, and product adoption signals</a:t>
            </a:r>
            <a:endParaRPr lang="en-US" sz="1530" dirty="0"/>
          </a:p>
        </p:txBody>
      </p:sp>
      <p:sp>
        <p:nvSpPr>
          <p:cNvPr id="38" name="Text 15"/>
          <p:cNvSpPr txBox="1"/>
          <p:nvPr/>
        </p:nvSpPr>
        <p:spPr>
          <a:xfrm>
            <a:off x="1596040" y="1421059"/>
            <a:ext cx="1530450" cy="189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10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</a:t>
            </a:r>
            <a:endParaRPr lang="en-US" sz="1060" dirty="0"/>
          </a:p>
        </p:txBody>
      </p:sp>
      <p:sp>
        <p:nvSpPr>
          <p:cNvPr id="39" name="Text 16"/>
          <p:cNvSpPr txBox="1"/>
          <p:nvPr/>
        </p:nvSpPr>
        <p:spPr>
          <a:xfrm>
            <a:off x="1603328" y="1661558"/>
            <a:ext cx="1093178" cy="386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078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124%</a:t>
            </a:r>
            <a:endParaRPr lang="en-US" sz="2890" dirty="0"/>
          </a:p>
        </p:txBody>
      </p:sp>
      <p:sp>
        <p:nvSpPr>
          <p:cNvPr id="40" name="Text 17"/>
          <p:cNvSpPr txBox="1"/>
          <p:nvPr/>
        </p:nvSpPr>
        <p:spPr>
          <a:xfrm>
            <a:off x="4605925" y="1421059"/>
            <a:ext cx="1260799" cy="211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00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Pipeline</a:t>
            </a:r>
            <a:endParaRPr lang="en-US" sz="1060" dirty="0"/>
          </a:p>
        </p:txBody>
      </p:sp>
      <p:sp>
        <p:nvSpPr>
          <p:cNvPr id="41" name="Text 18"/>
          <p:cNvSpPr txBox="1"/>
          <p:nvPr/>
        </p:nvSpPr>
        <p:spPr>
          <a:xfrm>
            <a:off x="4591349" y="1668846"/>
            <a:ext cx="1107754" cy="379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10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$8.4M</a:t>
            </a:r>
            <a:endParaRPr lang="en-US" sz="2890" dirty="0"/>
          </a:p>
        </p:txBody>
      </p:sp>
      <p:sp>
        <p:nvSpPr>
          <p:cNvPr id="42" name="Text 19"/>
          <p:cNvSpPr txBox="1"/>
          <p:nvPr/>
        </p:nvSpPr>
        <p:spPr>
          <a:xfrm>
            <a:off x="7477340" y="1399196"/>
            <a:ext cx="1187920" cy="2334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00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Adoption</a:t>
            </a:r>
            <a:endParaRPr lang="en-US" sz="1060" dirty="0"/>
          </a:p>
        </p:txBody>
      </p:sp>
      <p:sp>
        <p:nvSpPr>
          <p:cNvPr id="43" name="Text 20"/>
          <p:cNvSpPr txBox="1"/>
          <p:nvPr/>
        </p:nvSpPr>
        <p:spPr>
          <a:xfrm>
            <a:off x="7462764" y="1661558"/>
            <a:ext cx="816240" cy="386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E9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890" dirty="0"/>
          </a:p>
        </p:txBody>
      </p:sp>
      <p:sp>
        <p:nvSpPr>
          <p:cNvPr id="44" name="Text 21"/>
          <p:cNvSpPr txBox="1"/>
          <p:nvPr/>
        </p:nvSpPr>
        <p:spPr>
          <a:xfrm>
            <a:off x="10421633" y="1421059"/>
            <a:ext cx="896406" cy="189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20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Risk</a:t>
            </a:r>
            <a:endParaRPr lang="en-US" sz="1060" dirty="0"/>
          </a:p>
        </p:txBody>
      </p:sp>
      <p:sp>
        <p:nvSpPr>
          <p:cNvPr id="45" name="Text 22"/>
          <p:cNvSpPr txBox="1"/>
          <p:nvPr/>
        </p:nvSpPr>
        <p:spPr>
          <a:xfrm>
            <a:off x="10407058" y="1661558"/>
            <a:ext cx="991148" cy="379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D83E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-18%</a:t>
            </a:r>
            <a:endParaRPr lang="en-US" sz="2890" dirty="0"/>
          </a:p>
        </p:txBody>
      </p:sp>
      <p:sp>
        <p:nvSpPr>
          <p:cNvPr id="46" name="Text 23"/>
          <p:cNvSpPr txBox="1"/>
          <p:nvPr/>
        </p:nvSpPr>
        <p:spPr>
          <a:xfrm>
            <a:off x="568453" y="2528813"/>
            <a:ext cx="3330823" cy="262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0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Pipeline by Customer Segment</a:t>
            </a:r>
            <a:endParaRPr lang="en-US" sz="1240" dirty="0"/>
          </a:p>
        </p:txBody>
      </p:sp>
      <p:sp>
        <p:nvSpPr>
          <p:cNvPr id="47" name="Text 24"/>
          <p:cNvSpPr txBox="1"/>
          <p:nvPr/>
        </p:nvSpPr>
        <p:spPr>
          <a:xfrm>
            <a:off x="692346" y="2936933"/>
            <a:ext cx="160333" cy="175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40" dirty="0">
                <a:solidFill>
                  <a:srgbClr val="10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40" dirty="0"/>
          </a:p>
        </p:txBody>
      </p:sp>
      <p:sp>
        <p:nvSpPr>
          <p:cNvPr id="48" name="Text 25"/>
          <p:cNvSpPr txBox="1"/>
          <p:nvPr/>
        </p:nvSpPr>
        <p:spPr>
          <a:xfrm>
            <a:off x="743361" y="3315902"/>
            <a:ext cx="109318" cy="189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40" dirty="0">
                <a:solidFill>
                  <a:srgbClr val="10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40" dirty="0"/>
          </a:p>
        </p:txBody>
      </p:sp>
      <p:sp>
        <p:nvSpPr>
          <p:cNvPr id="49" name="Text 26"/>
          <p:cNvSpPr txBox="1"/>
          <p:nvPr/>
        </p:nvSpPr>
        <p:spPr>
          <a:xfrm>
            <a:off x="736073" y="4095702"/>
            <a:ext cx="116606" cy="175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40" dirty="0">
                <a:solidFill>
                  <a:srgbClr val="10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40" dirty="0"/>
          </a:p>
        </p:txBody>
      </p:sp>
      <p:sp>
        <p:nvSpPr>
          <p:cNvPr id="50" name="Text 27"/>
          <p:cNvSpPr txBox="1"/>
          <p:nvPr/>
        </p:nvSpPr>
        <p:spPr>
          <a:xfrm>
            <a:off x="736073" y="4474671"/>
            <a:ext cx="109318" cy="182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40" dirty="0">
                <a:solidFill>
                  <a:srgbClr val="10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40" dirty="0"/>
          </a:p>
        </p:txBody>
      </p:sp>
      <p:sp>
        <p:nvSpPr>
          <p:cNvPr id="51" name="Text 28"/>
          <p:cNvSpPr txBox="1"/>
          <p:nvPr/>
        </p:nvSpPr>
        <p:spPr>
          <a:xfrm>
            <a:off x="728786" y="4882790"/>
            <a:ext cx="123894" cy="189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40" dirty="0">
                <a:solidFill>
                  <a:srgbClr val="10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40" dirty="0"/>
          </a:p>
        </p:txBody>
      </p:sp>
      <p:sp>
        <p:nvSpPr>
          <p:cNvPr id="52" name="Text 29"/>
          <p:cNvSpPr txBox="1"/>
          <p:nvPr/>
        </p:nvSpPr>
        <p:spPr>
          <a:xfrm>
            <a:off x="1362829" y="5028548"/>
            <a:ext cx="182196" cy="182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0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980" dirty="0"/>
          </a:p>
        </p:txBody>
      </p:sp>
      <p:sp>
        <p:nvSpPr>
          <p:cNvPr id="53" name="Text 30"/>
          <p:cNvSpPr txBox="1"/>
          <p:nvPr/>
        </p:nvSpPr>
        <p:spPr>
          <a:xfrm>
            <a:off x="2375841" y="5021260"/>
            <a:ext cx="204060" cy="182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0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980" dirty="0"/>
          </a:p>
        </p:txBody>
      </p:sp>
      <p:sp>
        <p:nvSpPr>
          <p:cNvPr id="54" name="Text 31"/>
          <p:cNvSpPr txBox="1"/>
          <p:nvPr/>
        </p:nvSpPr>
        <p:spPr>
          <a:xfrm>
            <a:off x="3381565" y="5021260"/>
            <a:ext cx="204060" cy="189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0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980" dirty="0"/>
          </a:p>
        </p:txBody>
      </p:sp>
      <p:sp>
        <p:nvSpPr>
          <p:cNvPr id="55" name="Text 32"/>
          <p:cNvSpPr txBox="1"/>
          <p:nvPr/>
        </p:nvSpPr>
        <p:spPr>
          <a:xfrm>
            <a:off x="4387289" y="5028548"/>
            <a:ext cx="211348" cy="189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980" dirty="0"/>
          </a:p>
        </p:txBody>
      </p:sp>
      <p:sp>
        <p:nvSpPr>
          <p:cNvPr id="56" name="Text 33"/>
          <p:cNvSpPr txBox="1"/>
          <p:nvPr/>
        </p:nvSpPr>
        <p:spPr>
          <a:xfrm>
            <a:off x="5349286" y="3592840"/>
            <a:ext cx="699908" cy="226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70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070" dirty="0"/>
          </a:p>
        </p:txBody>
      </p:sp>
      <p:sp>
        <p:nvSpPr>
          <p:cNvPr id="57" name="Text 34"/>
          <p:cNvSpPr txBox="1"/>
          <p:nvPr/>
        </p:nvSpPr>
        <p:spPr>
          <a:xfrm>
            <a:off x="5349286" y="3964521"/>
            <a:ext cx="787362" cy="2043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70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</a:t>
            </a:r>
            <a:endParaRPr lang="en-US" sz="1070" dirty="0"/>
          </a:p>
        </p:txBody>
      </p:sp>
      <p:sp>
        <p:nvSpPr>
          <p:cNvPr id="58" name="Text 35"/>
          <p:cNvSpPr txBox="1"/>
          <p:nvPr/>
        </p:nvSpPr>
        <p:spPr>
          <a:xfrm>
            <a:off x="5341998" y="4328913"/>
            <a:ext cx="371954" cy="189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</a:t>
            </a:r>
            <a:endParaRPr lang="en-US" sz="1060" dirty="0"/>
          </a:p>
        </p:txBody>
      </p:sp>
      <p:sp>
        <p:nvSpPr>
          <p:cNvPr id="59" name="Text 36"/>
          <p:cNvSpPr txBox="1"/>
          <p:nvPr/>
        </p:nvSpPr>
        <p:spPr>
          <a:xfrm>
            <a:off x="6631949" y="2536101"/>
            <a:ext cx="2310524" cy="255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Pipeline by Stage</a:t>
            </a:r>
            <a:endParaRPr lang="en-US" sz="1250" dirty="0"/>
          </a:p>
        </p:txBody>
      </p:sp>
      <p:sp>
        <p:nvSpPr>
          <p:cNvPr id="60" name="Text 37"/>
          <p:cNvSpPr txBox="1"/>
          <p:nvPr/>
        </p:nvSpPr>
        <p:spPr>
          <a:xfrm>
            <a:off x="9969786" y="2929645"/>
            <a:ext cx="743635" cy="2699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370" dirty="0"/>
          </a:p>
        </p:txBody>
      </p:sp>
      <p:sp>
        <p:nvSpPr>
          <p:cNvPr id="61" name="Text 38"/>
          <p:cNvSpPr txBox="1"/>
          <p:nvPr/>
        </p:nvSpPr>
        <p:spPr>
          <a:xfrm>
            <a:off x="9969786" y="3214008"/>
            <a:ext cx="1559875" cy="386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92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Top-of-funnel accounts with</a:t>
            </a:r>
            <a:endParaRPr lang="en-US" sz="920" dirty="0"/>
          </a:p>
          <a:p>
            <a:pPr algn="l" indent="0" marL="0">
              <a:lnSpc>
                <a:spcPts val="1262"/>
              </a:lnSpc>
              <a:buNone/>
            </a:pPr>
            <a:r>
              <a:rPr lang="en-US" sz="92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potential</a:t>
            </a:r>
            <a:endParaRPr lang="en-US" sz="920" dirty="0"/>
          </a:p>
        </p:txBody>
      </p:sp>
      <p:sp>
        <p:nvSpPr>
          <p:cNvPr id="62" name="Text 39"/>
          <p:cNvSpPr txBox="1"/>
          <p:nvPr/>
        </p:nvSpPr>
        <p:spPr>
          <a:xfrm>
            <a:off x="9882332" y="3760461"/>
            <a:ext cx="707195" cy="2334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41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1370" dirty="0"/>
          </a:p>
        </p:txBody>
      </p:sp>
      <p:sp>
        <p:nvSpPr>
          <p:cNvPr id="63" name="Text 40"/>
          <p:cNvSpPr txBox="1"/>
          <p:nvPr/>
        </p:nvSpPr>
        <p:spPr>
          <a:xfrm>
            <a:off x="9867756" y="4022960"/>
            <a:ext cx="1793086" cy="364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2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expansion conversations</a:t>
            </a:r>
            <a:endParaRPr lang="en-US" sz="920" dirty="0"/>
          </a:p>
          <a:p>
            <a:pPr algn="l" indent="0" marL="0">
              <a:lnSpc>
                <a:spcPts val="1148"/>
              </a:lnSpc>
              <a:buNone/>
            </a:pPr>
            <a:r>
              <a:rPr lang="en-US" sz="92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solution alignment</a:t>
            </a:r>
            <a:endParaRPr lang="en-US" sz="920" dirty="0"/>
          </a:p>
        </p:txBody>
      </p:sp>
      <p:sp>
        <p:nvSpPr>
          <p:cNvPr id="64" name="Text 41"/>
          <p:cNvSpPr txBox="1"/>
          <p:nvPr/>
        </p:nvSpPr>
        <p:spPr>
          <a:xfrm>
            <a:off x="9663696" y="4540261"/>
            <a:ext cx="729059" cy="262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C44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370" dirty="0"/>
          </a:p>
        </p:txBody>
      </p:sp>
      <p:sp>
        <p:nvSpPr>
          <p:cNvPr id="65" name="Text 42"/>
          <p:cNvSpPr txBox="1"/>
          <p:nvPr/>
        </p:nvSpPr>
        <p:spPr>
          <a:xfrm>
            <a:off x="9678272" y="4795473"/>
            <a:ext cx="1282936" cy="386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92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expansion</a:t>
            </a:r>
            <a:endParaRPr lang="en-US" sz="920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92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revenue growth</a:t>
            </a:r>
            <a:endParaRPr lang="en-US" sz="920" dirty="0"/>
          </a:p>
        </p:txBody>
      </p:sp>
      <p:sp>
        <p:nvSpPr>
          <p:cNvPr id="66" name="Text 43"/>
          <p:cNvSpPr txBox="1"/>
          <p:nvPr/>
        </p:nvSpPr>
        <p:spPr>
          <a:xfrm>
            <a:off x="2040600" y="5699030"/>
            <a:ext cx="1618177" cy="277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0F7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Segment Focus</a:t>
            </a:r>
            <a:endParaRPr lang="en-US" sz="1270" dirty="0"/>
          </a:p>
        </p:txBody>
      </p:sp>
      <p:sp>
        <p:nvSpPr>
          <p:cNvPr id="67" name="Text 44"/>
          <p:cNvSpPr txBox="1"/>
          <p:nvPr/>
        </p:nvSpPr>
        <p:spPr>
          <a:xfrm>
            <a:off x="2055175" y="6041696"/>
            <a:ext cx="1953419" cy="43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9"/>
              </a:lnSpc>
              <a:buNone/>
            </a:pPr>
            <a:r>
              <a:rPr lang="en-US" sz="94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high-potential segments</a:t>
            </a:r>
            <a:endParaRPr lang="en-US" sz="940" dirty="0"/>
          </a:p>
          <a:p>
            <a:pPr algn="l" indent="0" marL="0">
              <a:lnSpc>
                <a:spcPts val="1549"/>
              </a:lnSpc>
              <a:buNone/>
            </a:pPr>
            <a:r>
              <a:rPr lang="en-US" sz="94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expansion plays</a:t>
            </a:r>
            <a:endParaRPr lang="en-US" sz="940" dirty="0"/>
          </a:p>
        </p:txBody>
      </p:sp>
      <p:sp>
        <p:nvSpPr>
          <p:cNvPr id="68" name="Text 45"/>
          <p:cNvSpPr txBox="1"/>
          <p:nvPr/>
        </p:nvSpPr>
        <p:spPr>
          <a:xfrm>
            <a:off x="5983329" y="5713606"/>
            <a:ext cx="1421405" cy="262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03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Pricing Tests</a:t>
            </a:r>
            <a:endParaRPr lang="en-US" sz="1270" dirty="0"/>
          </a:p>
        </p:txBody>
      </p:sp>
      <p:sp>
        <p:nvSpPr>
          <p:cNvPr id="69" name="Text 46"/>
          <p:cNvSpPr txBox="1"/>
          <p:nvPr/>
        </p:nvSpPr>
        <p:spPr>
          <a:xfrm>
            <a:off x="5997905" y="6034408"/>
            <a:ext cx="1669192" cy="415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7"/>
              </a:lnSpc>
              <a:buNone/>
            </a:pPr>
            <a:r>
              <a:rPr lang="en-US" sz="94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pricing levers</a:t>
            </a:r>
            <a:endParaRPr lang="en-US" sz="940" dirty="0"/>
          </a:p>
          <a:p>
            <a:pPr algn="l" indent="0" marL="0">
              <a:lnSpc>
                <a:spcPts val="1607"/>
              </a:lnSpc>
              <a:buNone/>
            </a:pPr>
            <a:r>
              <a:rPr lang="en-US" sz="94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packaging for expansion</a:t>
            </a:r>
            <a:endParaRPr lang="en-US" sz="940" dirty="0"/>
          </a:p>
        </p:txBody>
      </p:sp>
      <p:sp>
        <p:nvSpPr>
          <p:cNvPr id="70" name="Text 47"/>
          <p:cNvSpPr txBox="1"/>
          <p:nvPr/>
        </p:nvSpPr>
        <p:spPr>
          <a:xfrm>
            <a:off x="9700136" y="5720894"/>
            <a:ext cx="1559875" cy="218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C74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Partner Motion</a:t>
            </a:r>
            <a:endParaRPr lang="en-US" sz="1270" dirty="0"/>
          </a:p>
        </p:txBody>
      </p:sp>
      <p:sp>
        <p:nvSpPr>
          <p:cNvPr id="71" name="Text 48"/>
          <p:cNvSpPr txBox="1"/>
          <p:nvPr/>
        </p:nvSpPr>
        <p:spPr>
          <a:xfrm>
            <a:off x="9692848" y="6056272"/>
            <a:ext cx="1479708" cy="415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7"/>
              </a:lnSpc>
              <a:buNone/>
            </a:pPr>
            <a:r>
              <a:rPr lang="en-US" sz="93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partners to drive</a:t>
            </a:r>
            <a:endParaRPr lang="en-US" sz="930" dirty="0"/>
          </a:p>
          <a:p>
            <a:pPr algn="l" indent="0" marL="0">
              <a:lnSpc>
                <a:spcPts val="1377"/>
              </a:lnSpc>
              <a:buNone/>
            </a:pPr>
            <a:r>
              <a:rPr lang="en-US" sz="930" dirty="0">
                <a:solidFill>
                  <a:srgbClr val="666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co-sell and expansion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2026-10-02T15:48:05Z</dcterms:created>
  <dcterms:modified xsi:type="dcterms:W3CDTF">2026-10-02T15:48:05Z</dcterms:modified>
</cp:coreProperties>
</file>